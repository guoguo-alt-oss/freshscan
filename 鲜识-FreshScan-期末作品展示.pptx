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2E7D32">
              <a:alpha val="1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2743200" y="1828800"/>
            <a:ext cx="6400800" cy="6400800"/>
          </a:xfrm>
          <a:prstGeom prst="ellipse">
            <a:avLst/>
          </a:prstGeom>
          <a:solidFill>
            <a:srgbClr val="00897B">
              <a:alpha val="12000"/>
            </a:srgbClr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54864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914400"/>
            <a:ext cx="73152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鲜识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kern="0" spc="600" dirty="0">
                <a:solidFill>
                  <a:srgbClr val="81C78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FreshScan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371600" y="292608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DB6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基于端侧AI的果蔬新鲜度实时检测系统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71600" y="402336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福建师范大学 · 软件工程 · 陈润扬&amp;</a:t>
            </a:r>
            <a:r>
              <a:rPr lang="zh-CN" altLang="en-US" sz="1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黄哲轩</a:t>
            </a:r>
            <a:endParaRPr lang="zh-CN" altLang="en-US" sz="1300" dirty="0">
              <a:solidFill>
                <a:srgbClr val="6B72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371600" y="43891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2026年6月 · 期末作品展示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项目背景与痛点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749040" cy="12344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1234440"/>
          </a:xfrm>
          <a:prstGeom prst="rect">
            <a:avLst/>
          </a:prstGeom>
          <a:solidFill>
            <a:srgbClr val="2E7D32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2801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肉眼判断困难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164592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果蔬新鲜度依赖经验，普通消费者难以准确判断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3749040" cy="12344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188720"/>
            <a:ext cx="54864" cy="1234440"/>
          </a:xfrm>
          <a:prstGeom prst="rect">
            <a:avLst/>
          </a:prstGeom>
          <a:solidFill>
            <a:srgbClr val="2E7D32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173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2801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传统检测耗时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669280" y="164592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实验室检测需数小时，无法在日常购物场景中使用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606040"/>
            <a:ext cx="3749040" cy="12344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2606040"/>
            <a:ext cx="54864" cy="1234440"/>
          </a:xfrm>
          <a:prstGeom prst="rect">
            <a:avLst/>
          </a:prstGeom>
          <a:solidFill>
            <a:srgbClr val="2E7D32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3464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26974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现有方案需联网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371600" y="306324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多数AI识别依赖云端推理，网络依赖且隐私风险高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2606040"/>
            <a:ext cx="3749040" cy="12344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606040"/>
            <a:ext cx="54864" cy="1234440"/>
          </a:xfrm>
          <a:prstGeom prst="rect">
            <a:avLst/>
          </a:prstGeom>
          <a:solidFill>
            <a:srgbClr val="2E7D32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83464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26974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覆盖品类有限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669280" y="306324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现有App仅覆盖常见品类，缺乏小众果蔬识别能力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1A2E1A"/>
          </a:solidFill>
        </p:spPr>
      </p:sp>
      <p:sp>
        <p:nvSpPr>
          <p:cNvPr id="25" name="Text 19"/>
          <p:cNvSpPr/>
          <p:nvPr/>
        </p:nvSpPr>
        <p:spPr>
          <a:xfrm>
            <a:off x="731520" y="4160520"/>
            <a:ext cx="7680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中国市场每年因果蔬新鲜度误判造成的损耗率高达 </a:t>
            </a:r>
            <a:r>
              <a:rPr lang="en-US" sz="1600" b="1" dirty="0">
                <a:solidFill>
                  <a:srgbClr val="81C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25%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，端侧AI检测可有效降低损耗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解决方案：鲜识 FreshScan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18288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560320" cy="54864"/>
          </a:xfrm>
          <a:prstGeom prst="rect">
            <a:avLst/>
          </a:prstGeom>
          <a:solidFill>
            <a:srgbClr val="2E7D32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4173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1488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2D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实时检测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46888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打开摄像头对准果蔬，AI自动分析，无需拍照，即见即所得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91840" y="1188720"/>
            <a:ext cx="2560320" cy="18288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91840" y="1188720"/>
            <a:ext cx="2560320" cy="54864"/>
          </a:xfrm>
          <a:prstGeom prst="rect">
            <a:avLst/>
          </a:prstGeom>
          <a:solidFill>
            <a:srgbClr val="00897B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41732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1488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2D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离线AI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474720" y="246888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TensorFlow Lite端侧推理，完全离线运行，无需网络，保护隐私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1188720"/>
            <a:ext cx="2560320" cy="18288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1188720"/>
            <a:ext cx="2560320" cy="54864"/>
          </a:xfrm>
          <a:prstGeom prst="rect">
            <a:avLst/>
          </a:prstGeom>
          <a:solidFill>
            <a:srgbClr val="4CAF50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41732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21488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2D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精准识别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309360" y="246888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98.64%测试精度，覆盖9种果蔬×2状态，非果蔬自动筛选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20" name="Text 15"/>
          <p:cNvSpPr/>
          <p:nvPr/>
        </p:nvSpPr>
        <p:spPr>
          <a:xfrm>
            <a:off x="731520" y="3429000"/>
            <a:ext cx="7680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打开鲜识，对准果蔬，一秒知新鲜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1463040" y="4297680"/>
            <a:ext cx="365760" cy="365760"/>
          </a:xfrm>
          <a:prstGeom prst="ellipse">
            <a:avLst/>
          </a:prstGeom>
          <a:solidFill>
            <a:srgbClr val="2E7D32"/>
          </a:solidFill>
        </p:spPr>
      </p:sp>
      <p:sp>
        <p:nvSpPr>
          <p:cNvPr id="22" name="Text 17"/>
          <p:cNvSpPr/>
          <p:nvPr/>
        </p:nvSpPr>
        <p:spPr>
          <a:xfrm>
            <a:off x="1463040" y="4315968"/>
            <a:ext cx="365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1097280" y="47091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对准果蔬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1874520" y="4480560"/>
            <a:ext cx="1097280" cy="0"/>
          </a:xfrm>
          <a:prstGeom prst="line">
            <a:avLst/>
          </a:prstGeom>
          <a:noFill/>
          <a:ln w="19050">
            <a:solidFill>
              <a:srgbClr val="81C784"/>
            </a:solidFill>
            <a:prstDash val="dash"/>
          </a:ln>
        </p:spPr>
      </p:sp>
      <p:sp>
        <p:nvSpPr>
          <p:cNvPr id="25" name="Shape 20"/>
          <p:cNvSpPr/>
          <p:nvPr/>
        </p:nvSpPr>
        <p:spPr>
          <a:xfrm>
            <a:off x="3383280" y="4297680"/>
            <a:ext cx="365760" cy="365760"/>
          </a:xfrm>
          <a:prstGeom prst="ellipse">
            <a:avLst/>
          </a:prstGeom>
          <a:solidFill>
            <a:srgbClr val="2E7D32"/>
          </a:solidFill>
        </p:spPr>
      </p:sp>
      <p:sp>
        <p:nvSpPr>
          <p:cNvPr id="26" name="Text 21"/>
          <p:cNvSpPr/>
          <p:nvPr/>
        </p:nvSpPr>
        <p:spPr>
          <a:xfrm>
            <a:off x="3383280" y="4315968"/>
            <a:ext cx="365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3017520" y="47091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AI实时分析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3794760" y="4480560"/>
            <a:ext cx="1097280" cy="0"/>
          </a:xfrm>
          <a:prstGeom prst="line">
            <a:avLst/>
          </a:prstGeom>
          <a:noFill/>
          <a:ln w="19050">
            <a:solidFill>
              <a:srgbClr val="81C784"/>
            </a:solidFill>
            <a:prstDash val="dash"/>
          </a:ln>
        </p:spPr>
      </p:sp>
      <p:sp>
        <p:nvSpPr>
          <p:cNvPr id="29" name="Shape 24"/>
          <p:cNvSpPr/>
          <p:nvPr/>
        </p:nvSpPr>
        <p:spPr>
          <a:xfrm>
            <a:off x="5303520" y="4297680"/>
            <a:ext cx="365760" cy="365760"/>
          </a:xfrm>
          <a:prstGeom prst="ellipse">
            <a:avLst/>
          </a:prstGeom>
          <a:solidFill>
            <a:srgbClr val="2E7D32"/>
          </a:solidFill>
        </p:spPr>
      </p:sp>
      <p:sp>
        <p:nvSpPr>
          <p:cNvPr id="30" name="Text 25"/>
          <p:cNvSpPr/>
          <p:nvPr/>
        </p:nvSpPr>
        <p:spPr>
          <a:xfrm>
            <a:off x="5303520" y="4315968"/>
            <a:ext cx="365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4937760" y="47091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查看结果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5715000" y="4480560"/>
            <a:ext cx="1097280" cy="0"/>
          </a:xfrm>
          <a:prstGeom prst="line">
            <a:avLst/>
          </a:prstGeom>
          <a:noFill/>
          <a:ln w="19050">
            <a:solidFill>
              <a:srgbClr val="81C784"/>
            </a:solidFill>
            <a:prstDash val="dash"/>
          </a:ln>
        </p:spPr>
      </p:sp>
      <p:sp>
        <p:nvSpPr>
          <p:cNvPr id="33" name="Shape 28"/>
          <p:cNvSpPr/>
          <p:nvPr/>
        </p:nvSpPr>
        <p:spPr>
          <a:xfrm>
            <a:off x="7223760" y="4297680"/>
            <a:ext cx="365760" cy="365760"/>
          </a:xfrm>
          <a:prstGeom prst="ellipse">
            <a:avLst/>
          </a:prstGeom>
          <a:solidFill>
            <a:srgbClr val="2E7D32"/>
          </a:solidFill>
        </p:spPr>
      </p:sp>
      <p:sp>
        <p:nvSpPr>
          <p:cNvPr id="34" name="Text 29"/>
          <p:cNvSpPr/>
          <p:nvPr/>
        </p:nvSpPr>
        <p:spPr>
          <a:xfrm>
            <a:off x="7223760" y="4315968"/>
            <a:ext cx="365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6858000" y="47091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保存记录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技术选型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57200" y="1097280"/>
          <a:ext cx="8229600" cy="3163824"/>
        </p:xfrm>
        <a:graphic>
          <a:graphicData uri="http://schemas.openxmlformats.org/drawingml/2006/table">
            <a:tbl>
              <a:tblPr/>
              <a:tblGrid>
                <a:gridCol w="1280160"/>
                <a:gridCol w="2560320"/>
                <a:gridCol w="1097280"/>
                <a:gridCol w="3291840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层次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技术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版本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说明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前端 UI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Jetpack Compose + Material 3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BOM 2024.05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声明式UI，组件复用，暗色主题支持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架构模式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MVVM + Clean Architecture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3层分离：Presentation/Domain/Data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依赖注入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Hilt (Dagger)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2.51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编译期DI，Singleton作用域，ViewModel集成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相机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CameraX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1.3.3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生命周期感知，YUV→RGB预处理，NV21适配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推理引擎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TensorFlow Lite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2.14.0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GPU/CPU自动降级，XNNPACK加速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AI模型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MobileNetV3-Small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950K参数，224×224输入，18类输出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本地存储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Room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2.6.1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编译期SQL校验，Flow响应式查询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异步处理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Kotlin Coroutines + Flow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1.8.0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StateFlow驱动UI，Mutex线程安全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457200" y="1444752"/>
            <a:ext cx="8229600" cy="347472"/>
          </a:xfrm>
          <a:prstGeom prst="rect">
            <a:avLst/>
          </a:prstGeom>
          <a:solidFill>
            <a:srgbClr val="F0F7F0"/>
          </a:solidFill>
        </p:spPr>
      </p:sp>
      <p:sp>
        <p:nvSpPr>
          <p:cNvPr id="6" name="Shape 3"/>
          <p:cNvSpPr/>
          <p:nvPr/>
        </p:nvSpPr>
        <p:spPr>
          <a:xfrm>
            <a:off x="457200" y="2139696"/>
            <a:ext cx="8229600" cy="347472"/>
          </a:xfrm>
          <a:prstGeom prst="rect">
            <a:avLst/>
          </a:prstGeom>
          <a:solidFill>
            <a:srgbClr val="F0F7F0"/>
          </a:solidFill>
        </p:spPr>
      </p:sp>
      <p:sp>
        <p:nvSpPr>
          <p:cNvPr id="7" name="Shape 4"/>
          <p:cNvSpPr/>
          <p:nvPr/>
        </p:nvSpPr>
        <p:spPr>
          <a:xfrm>
            <a:off x="457200" y="2834640"/>
            <a:ext cx="8229600" cy="347472"/>
          </a:xfrm>
          <a:prstGeom prst="rect">
            <a:avLst/>
          </a:prstGeom>
          <a:solidFill>
            <a:srgbClr val="F0F7F0"/>
          </a:solidFill>
        </p:spPr>
      </p:sp>
      <p:sp>
        <p:nvSpPr>
          <p:cNvPr id="8" name="Shape 5"/>
          <p:cNvSpPr/>
          <p:nvPr/>
        </p:nvSpPr>
        <p:spPr>
          <a:xfrm>
            <a:off x="457200" y="3529584"/>
            <a:ext cx="8229600" cy="347472"/>
          </a:xfrm>
          <a:prstGeom prst="rect">
            <a:avLst/>
          </a:prstGeom>
          <a:solidFill>
            <a:srgbClr val="F0F7F0"/>
          </a:solidFill>
        </p:spPr>
      </p:sp>
      <p:sp>
        <p:nvSpPr>
          <p:cNvPr id="9" name="Text 6"/>
          <p:cNvSpPr/>
          <p:nvPr/>
        </p:nvSpPr>
        <p:spPr>
          <a:xfrm>
            <a:off x="457200" y="434340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核心指标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4663440"/>
            <a:ext cx="1463040" cy="4572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7200" y="4663440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~3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" y="4956048"/>
            <a:ext cx="1463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推理FPS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148840" y="4663440"/>
            <a:ext cx="1463040" cy="4572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148840" y="4663440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3.6MB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148840" y="4956048"/>
            <a:ext cx="1463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模型体积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840480" y="4663440"/>
            <a:ext cx="1463040" cy="4572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840480" y="4663440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98.64%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840480" y="4956048"/>
            <a:ext cx="1463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测试精度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532120" y="4663440"/>
            <a:ext cx="1463040" cy="4572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532120" y="4663440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API 24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532120" y="4956048"/>
            <a:ext cx="1463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最低SDK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223760" y="4663440"/>
            <a:ext cx="1463040" cy="4572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223760" y="4663440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~3.5K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223760" y="4956048"/>
            <a:ext cx="1463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Kotlin行数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系统架构：MVVM + Clean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4572000" cy="128016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1440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表现层 Presentation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154430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Compose Screens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ViewModels (StateFlow)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MainUiState / DetailUiState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354580"/>
            <a:ext cx="4572000" cy="128016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603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领域层 Domain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52090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UseCases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Domain Models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Repository Interfaces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886200"/>
            <a:ext cx="4572000" cy="128016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988435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数据层 Data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Repository Impls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CameraManager / TFLite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Room / CameraX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217170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565C0"/>
                </a:solidFill>
              </a:rPr>
              <a:t>▼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86000" y="370332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65100"/>
                </a:solidFill>
              </a:rPr>
              <a:t>▼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0" y="10515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0" y="1508760"/>
            <a:ext cx="3200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1527048"/>
            <a:ext cx="30175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📷 CameraX YUV帧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675120" y="2039112"/>
            <a:ext cx="73152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7D32"/>
                </a:solidFill>
              </a:rPr>
              <a:t>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0" y="2194560"/>
            <a:ext cx="3200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2212848"/>
            <a:ext cx="30175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⚙️ ImagePreprocessor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YUV→RGB→224×224→归一化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75120" y="2724912"/>
            <a:ext cx="73152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7D32"/>
                </a:solidFill>
              </a:rPr>
              <a:t>↓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0" y="2880360"/>
            <a:ext cx="3200400" cy="548640"/>
          </a:xfrm>
          <a:prstGeom prst="rect">
            <a:avLst/>
          </a:prstGeom>
          <a:solidFill>
            <a:srgbClr val="4CAF50">
              <a:alpha val="20000"/>
            </a:srgbClr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2898648"/>
            <a:ext cx="30175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🧠 TFLite Interpreter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GPU/CPU 推理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75120" y="3410712"/>
            <a:ext cx="73152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7D32"/>
                </a:solidFill>
              </a:rPr>
              <a:t>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0" y="3566160"/>
            <a:ext cx="3200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3584448"/>
            <a:ext cx="30175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ModelMapper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Softmax→Top-3→置信度过滤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75120" y="4096512"/>
            <a:ext cx="73152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7D32"/>
                </a:solidFill>
              </a:rPr>
              <a:t>↓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0" y="4251960"/>
            <a:ext cx="3200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4270248"/>
            <a:ext cx="30175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📱 StateFlow→Compose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核心功能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920240" cy="17373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920240" cy="45720"/>
          </a:xfrm>
          <a:prstGeom prst="rect">
            <a:avLst/>
          </a:prstGeom>
          <a:solidFill>
            <a:srgbClr val="4CAF50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2344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182880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实时预览识别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214884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摄像头画面实时分析，3FPS推理速率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606040" y="1051560"/>
            <a:ext cx="1920240" cy="17373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06040" y="1051560"/>
            <a:ext cx="1920240" cy="45720"/>
          </a:xfrm>
          <a:prstGeom prst="rect">
            <a:avLst/>
          </a:prstGeom>
          <a:solidFill>
            <a:srgbClr val="4CAF50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23444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43200" y="182880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非果蔬过滤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743200" y="214884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Raw-logit预检，拒绝非果蔬画面虚假识别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754880" y="1051560"/>
            <a:ext cx="1920240" cy="17373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54880" y="1051560"/>
            <a:ext cx="1920240" cy="45720"/>
          </a:xfrm>
          <a:prstGeom prst="rect">
            <a:avLst/>
          </a:prstGeom>
          <a:solidFill>
            <a:srgbClr val="4CAF50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23444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92040" y="182880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GPU/CPU降级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892040" y="214884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GPU失败自动回退4线程CPU+XNNPACK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903720" y="1051560"/>
            <a:ext cx="1920240" cy="17373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903720" y="1051560"/>
            <a:ext cx="1920240" cy="45720"/>
          </a:xfrm>
          <a:prstGeom prst="rect">
            <a:avLst/>
          </a:prstGeom>
          <a:solidFill>
            <a:srgbClr val="4CAF50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23444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182880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超时保护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040880" y="214884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800ms推理超时→自动低功耗模式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457200" y="3063240"/>
            <a:ext cx="1920240" cy="17373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" y="3063240"/>
            <a:ext cx="1920240" cy="45720"/>
          </a:xfrm>
          <a:prstGeom prst="rect">
            <a:avLst/>
          </a:prstGeom>
          <a:solidFill>
            <a:srgbClr val="4CAF50"/>
          </a:solidFill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3246120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94360" y="384048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Top-3预测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594360" y="416052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展示前三候选及置信度概率分布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2606040" y="3063240"/>
            <a:ext cx="1920240" cy="17373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2606040" y="3063240"/>
            <a:ext cx="1920240" cy="45720"/>
          </a:xfrm>
          <a:prstGeom prst="rect">
            <a:avLst/>
          </a:prstGeom>
          <a:solidFill>
            <a:srgbClr val="4CAF50"/>
          </a:solidFill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6120" y="3246120"/>
            <a:ext cx="502920" cy="5029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743200" y="384048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稳定性缓冲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2743200" y="416052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连续3帧一致才标记稳定，过滤抖动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4754880" y="3063240"/>
            <a:ext cx="1920240" cy="17373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4754880" y="3063240"/>
            <a:ext cx="1920240" cy="45720"/>
          </a:xfrm>
          <a:prstGeom prst="rect">
            <a:avLst/>
          </a:prstGeom>
          <a:solidFill>
            <a:srgbClr val="4CAF50"/>
          </a:solidFill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4960" y="3246120"/>
            <a:ext cx="502920" cy="5029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892040" y="384048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历史记录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4892040" y="416052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Room自动保存50条，滑动删除/清空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6903720" y="3063240"/>
            <a:ext cx="1920240" cy="17373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6903720" y="3063240"/>
            <a:ext cx="1920240" cy="45720"/>
          </a:xfrm>
          <a:prstGeom prst="rect">
            <a:avLst/>
          </a:prstGeom>
          <a:solidFill>
            <a:srgbClr val="4CAF50"/>
          </a:solidFill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800" y="3246120"/>
            <a:ext cx="502920" cy="50292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040880" y="384048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智能建议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7040880" y="416052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新鲜/腐烂/不确定→对应保存/食用建议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模型训练管线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143000"/>
            <a:ext cx="457200" cy="457200"/>
          </a:xfrm>
          <a:prstGeom prst="ellipse">
            <a:avLst/>
          </a:prstGeom>
          <a:solidFill>
            <a:srgbClr val="2E7D32"/>
          </a:solidFill>
        </p:spPr>
      </p:sp>
      <p:sp>
        <p:nvSpPr>
          <p:cNvPr id="5" name="Text 3"/>
          <p:cNvSpPr/>
          <p:nvPr/>
        </p:nvSpPr>
        <p:spPr>
          <a:xfrm>
            <a:off x="822960" y="1161288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数据准备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25880" y="1371600"/>
            <a:ext cx="822960" cy="0"/>
          </a:xfrm>
          <a:prstGeom prst="line">
            <a:avLst/>
          </a:prstGeom>
          <a:noFill/>
          <a:ln w="25400">
            <a:solidFill>
              <a:srgbClr val="81C78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1143000"/>
            <a:ext cx="457200" cy="457200"/>
          </a:xfrm>
          <a:prstGeom prst="ellipse">
            <a:avLst/>
          </a:prstGeom>
          <a:solidFill>
            <a:srgbClr val="2E7D32"/>
          </a:solidFill>
        </p:spPr>
      </p:sp>
      <p:sp>
        <p:nvSpPr>
          <p:cNvPr id="9" name="Text 7"/>
          <p:cNvSpPr/>
          <p:nvPr/>
        </p:nvSpPr>
        <p:spPr>
          <a:xfrm>
            <a:off x="2560320" y="1161288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94560" y="16459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增强与分割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63240" y="1371600"/>
            <a:ext cx="822960" cy="0"/>
          </a:xfrm>
          <a:prstGeom prst="line">
            <a:avLst/>
          </a:prstGeom>
          <a:noFill/>
          <a:ln w="25400">
            <a:solidFill>
              <a:srgbClr val="81C78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143000"/>
            <a:ext cx="457200" cy="457200"/>
          </a:xfrm>
          <a:prstGeom prst="ellipse">
            <a:avLst/>
          </a:prstGeom>
          <a:solidFill>
            <a:srgbClr val="00897B"/>
          </a:solidFill>
        </p:spPr>
      </p:sp>
      <p:sp>
        <p:nvSpPr>
          <p:cNvPr id="13" name="Text 11"/>
          <p:cNvSpPr/>
          <p:nvPr/>
        </p:nvSpPr>
        <p:spPr>
          <a:xfrm>
            <a:off x="4297680" y="1161288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31920" y="16459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迁移学习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00600" y="1371600"/>
            <a:ext cx="822960" cy="0"/>
          </a:xfrm>
          <a:prstGeom prst="line">
            <a:avLst/>
          </a:prstGeom>
          <a:noFill/>
          <a:ln w="25400">
            <a:solidFill>
              <a:srgbClr val="81C7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143000"/>
            <a:ext cx="457200" cy="457200"/>
          </a:xfrm>
          <a:prstGeom prst="ellipse">
            <a:avLst/>
          </a:prstGeom>
          <a:solidFill>
            <a:srgbClr val="2E7D32"/>
          </a:solidFill>
        </p:spPr>
      </p:sp>
      <p:sp>
        <p:nvSpPr>
          <p:cNvPr id="17" name="Text 15"/>
          <p:cNvSpPr/>
          <p:nvPr/>
        </p:nvSpPr>
        <p:spPr>
          <a:xfrm>
            <a:off x="6035040" y="1161288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69280" y="16459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TFLite转换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537960" y="1371600"/>
            <a:ext cx="822960" cy="0"/>
          </a:xfrm>
          <a:prstGeom prst="line">
            <a:avLst/>
          </a:prstGeom>
          <a:noFill/>
          <a:ln w="25400">
            <a:solidFill>
              <a:srgbClr val="81C78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1143000"/>
            <a:ext cx="457200" cy="457200"/>
          </a:xfrm>
          <a:prstGeom prst="ellipse">
            <a:avLst/>
          </a:prstGeom>
          <a:solidFill>
            <a:srgbClr val="2E7D32"/>
          </a:solidFill>
        </p:spPr>
      </p:sp>
      <p:sp>
        <p:nvSpPr>
          <p:cNvPr id="21" name="Text 19"/>
          <p:cNvSpPr/>
          <p:nvPr/>
        </p:nvSpPr>
        <p:spPr>
          <a:xfrm>
            <a:off x="7772400" y="1161288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06640" y="16459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真机部署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103120"/>
            <a:ext cx="3931920" cy="25603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21488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数据集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2468880"/>
            <a:ext cx="3566160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来源: Kaggle (swoyam2609)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训练集: 23,619 张图片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类别: 9种果蔬 × 2状态 = 18类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分割: 80% 训练 / 10% 验证 / 10% 测试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增广: 旋转/平移/缩放/翻转/亮度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覆盖: 苹果 香蕉 苦瓜 辣椒 黄瓜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秋葵 橙子 土豆 番茄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103120"/>
            <a:ext cx="3931920" cy="25603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37760" y="21488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训练参数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2468880"/>
            <a:ext cx="3566160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模型: MobileNetV3-Small (950K参数)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预训练: ImageNet权重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微调: 最后20层 (350K可训练)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优化器: Adam, lr=1e-4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损失: CategoricalCrossentropy (logits)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Epochs: 16 (EarlyStopping patience=5)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输出: 原始logits (无Softmax)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量化: INT8/</a:t>
            </a: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FP32</a:t>
            </a:r>
            <a:endParaRPr lang="en-US" sz="1000" dirty="0">
              <a:solidFill>
                <a:srgbClr val="2D2D2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模型精度表现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474720" cy="8686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86868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6" name="Text 4"/>
          <p:cNvSpPr/>
          <p:nvPr/>
        </p:nvSpPr>
        <p:spPr>
          <a:xfrm>
            <a:off x="731520" y="10972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7D32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98.64%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测试集整体精度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3474720" cy="8686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03120"/>
            <a:ext cx="54864" cy="86868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10" name="Text 8"/>
          <p:cNvSpPr/>
          <p:nvPr/>
        </p:nvSpPr>
        <p:spPr>
          <a:xfrm>
            <a:off x="731520" y="214884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7D32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16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31520" y="260604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训练轮数 (EarlyStop)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3474720" cy="8686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154680"/>
            <a:ext cx="54864" cy="86868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14" name="Text 12"/>
          <p:cNvSpPr/>
          <p:nvPr/>
        </p:nvSpPr>
        <p:spPr>
          <a:xfrm>
            <a:off x="731520" y="32004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7D32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13/18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31520" y="365760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类别 Recall ≥ 95%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0" y="105156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各类别准确率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4389120" y="1417320"/>
          <a:ext cx="4297680" cy="1865376"/>
        </p:xfrm>
        <a:graphic>
          <a:graphicData uri="http://schemas.openxmlformats.org/drawingml/2006/table">
            <a:tbl>
              <a:tblPr/>
              <a:tblGrid>
                <a:gridCol w="1463040"/>
                <a:gridCol w="1417320"/>
                <a:gridCol w="1417320"/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类别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旧模型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新模型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苹果 🍎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95.3% / 100%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E7D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97.4% / 99.8%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香蕉 🍌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100% / 99.3%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E7D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100% / 100%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苦瓜 🥒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97.1% / 100%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E7D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98.5% / 100%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辣椒 🫑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98.9% / 97.9%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E7D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98.4% / 99.5%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黄瓜 🥝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92.7% / 64.4%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E7D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88.7% / 92.1%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秋葵 🫘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85.0% / 52.9%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E7D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92.9% / 88.9%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橙子 🍊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97.0% / 90.9%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E7D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100% / 99.7%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土豆 🥔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88.4% / 95.2%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E7D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95.2% / 95.3%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番茄 🍅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91.4% / 90.3%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E7D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97.6% / 97.8%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389120" y="448056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新模型在少数类（秋葵、黄瓜）上大幅提升；所有类别均有显著改善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开发流程与质量保障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011680" cy="29260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143000"/>
            <a:ext cx="731520" cy="731520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6" name="Text 4"/>
          <p:cNvSpPr/>
          <p:nvPr/>
        </p:nvSpPr>
        <p:spPr>
          <a:xfrm>
            <a:off x="914400" y="11430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代码审查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331720"/>
            <a:ext cx="17373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修复9个Bug + 6个功能缺口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8803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62% → 78%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2560320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1C784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468880" y="1051560"/>
            <a:ext cx="2011680" cy="29260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1143000"/>
            <a:ext cx="731520" cy="73152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13" name="Text 11"/>
          <p:cNvSpPr/>
          <p:nvPr/>
        </p:nvSpPr>
        <p:spPr>
          <a:xfrm>
            <a:off x="3108960" y="11430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560320" y="20116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真机验证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06040" y="2331720"/>
            <a:ext cx="17373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修复2个运行时Bug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0" y="28803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897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78% → 82%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80560" y="2560320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1C784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63440" y="1051560"/>
            <a:ext cx="2011680" cy="29260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0" y="1143000"/>
            <a:ext cx="731520" cy="731520"/>
          </a:xfrm>
          <a:prstGeom prst="rect">
            <a:avLst/>
          </a:prstGeom>
          <a:solidFill>
            <a:srgbClr val="E65100"/>
          </a:solidFill>
        </p:spPr>
      </p:sp>
      <p:sp>
        <p:nvSpPr>
          <p:cNvPr id="20" name="Text 18"/>
          <p:cNvSpPr/>
          <p:nvPr/>
        </p:nvSpPr>
        <p:spPr>
          <a:xfrm>
            <a:off x="5303520" y="11430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754880" y="20116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深度审查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2331720"/>
            <a:ext cx="17373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发现16项问题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(2中优+14低优)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28803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510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82% → 84%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75120" y="2560320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1C784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858000" y="1051560"/>
            <a:ext cx="2011680" cy="29260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0" y="1143000"/>
            <a:ext cx="731520" cy="731520"/>
          </a:xfrm>
          <a:prstGeom prst="rect">
            <a:avLst/>
          </a:prstGeom>
          <a:solidFill>
            <a:srgbClr val="4CAF50"/>
          </a:solidFill>
        </p:spPr>
      </p:sp>
      <p:sp>
        <p:nvSpPr>
          <p:cNvPr id="27" name="Text 25"/>
          <p:cNvSpPr/>
          <p:nvPr/>
        </p:nvSpPr>
        <p:spPr>
          <a:xfrm>
            <a:off x="7498080" y="11430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949440" y="20116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全量修复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95160" y="2331720"/>
            <a:ext cx="17373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修复14/16项问题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文档+DI+线程安全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49440" y="28803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AF5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84% → 95%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74320" y="4206240"/>
            <a:ext cx="8595360" cy="731520"/>
          </a:xfrm>
          <a:prstGeom prst="rect">
            <a:avLst/>
          </a:prstGeom>
          <a:solidFill>
            <a:srgbClr val="1A2E1A"/>
          </a:solidFill>
        </p:spPr>
      </p:sp>
      <p:sp>
        <p:nvSpPr>
          <p:cNvPr id="32" name="Text 30"/>
          <p:cNvSpPr/>
          <p:nvPr/>
        </p:nvSpPr>
        <p:spPr>
          <a:xfrm>
            <a:off x="457200" y="42062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1C78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23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57200" y="452628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DB6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单元测试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DB6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全部通过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651760" y="42062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1C78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17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2651760" y="452628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DB6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Bug修复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DB6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零回归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2062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1C78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846320" y="452628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DB6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文件变更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DB6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质量提升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040880" y="42062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1C78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040880" y="452628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DB6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审查轮次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DB6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完整闭环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技术亮点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17373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5720" cy="173736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6" name="Shape 4"/>
          <p:cNvSpPr/>
          <p:nvPr/>
        </p:nvSpPr>
        <p:spPr>
          <a:xfrm>
            <a:off x="457200" y="1188720"/>
            <a:ext cx="411480" cy="411480"/>
          </a:xfrm>
          <a:prstGeom prst="ellipse">
            <a:avLst/>
          </a:prstGeom>
          <a:solidFill>
            <a:srgbClr val="2E7D32"/>
          </a:solidFill>
        </p:spPr>
      </p:sp>
      <p:sp>
        <p:nvSpPr>
          <p:cNvPr id="7" name="Text 5"/>
          <p:cNvSpPr/>
          <p:nvPr/>
        </p:nvSpPr>
        <p:spPr>
          <a:xfrm>
            <a:off x="457200" y="1197864"/>
            <a:ext cx="41148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18872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NV21全SoC适配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23774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正确处理半平面(pixelStride=2)和平面(pixelStride=1)两种YUV布局，覆盖高通/联发科/三星/谷歌Tensor全系芯片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743200" cy="17373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51560"/>
            <a:ext cx="45720" cy="173736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12" name="Shape 10"/>
          <p:cNvSpPr/>
          <p:nvPr/>
        </p:nvSpPr>
        <p:spPr>
          <a:xfrm>
            <a:off x="3383280" y="1188720"/>
            <a:ext cx="411480" cy="411480"/>
          </a:xfrm>
          <a:prstGeom prst="ellipse">
            <a:avLst/>
          </a:prstGeom>
          <a:solidFill>
            <a:srgbClr val="2E7D32"/>
          </a:solidFill>
        </p:spPr>
      </p:sp>
      <p:sp>
        <p:nvSpPr>
          <p:cNvPr id="13" name="Text 11"/>
          <p:cNvSpPr/>
          <p:nvPr/>
        </p:nvSpPr>
        <p:spPr>
          <a:xfrm>
            <a:off x="3383280" y="1197864"/>
            <a:ext cx="41148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31920" y="118872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推理降级链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1783080"/>
            <a:ext cx="23774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GPU Delegate → 4线程CPU+XNNPACK → 低功耗模式(500ms)，完整的性能自适应链路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1051560"/>
            <a:ext cx="2743200" cy="17373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51560"/>
            <a:ext cx="45720" cy="173736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18" name="Shape 16"/>
          <p:cNvSpPr/>
          <p:nvPr/>
        </p:nvSpPr>
        <p:spPr>
          <a:xfrm>
            <a:off x="6309360" y="1188720"/>
            <a:ext cx="411480" cy="411480"/>
          </a:xfrm>
          <a:prstGeom prst="ellipse">
            <a:avLst/>
          </a:prstGeom>
          <a:solidFill>
            <a:srgbClr val="2E7D32"/>
          </a:solidFill>
        </p:spPr>
      </p:sp>
      <p:sp>
        <p:nvSpPr>
          <p:cNvPr id="19" name="Text 17"/>
          <p:cNvSpPr/>
          <p:nvPr/>
        </p:nvSpPr>
        <p:spPr>
          <a:xfrm>
            <a:off x="6309360" y="1197864"/>
            <a:ext cx="41148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0" y="118872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Raw-logit预检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1783080"/>
            <a:ext cx="23774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Softmax前检查logit幅度，低于阈值直接标记UNKNOWN，杜绝非果蔬画面的虚假高置信度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063240"/>
            <a:ext cx="2743200" cy="17373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063240"/>
            <a:ext cx="45720" cy="173736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24" name="Shape 22"/>
          <p:cNvSpPr/>
          <p:nvPr/>
        </p:nvSpPr>
        <p:spPr>
          <a:xfrm>
            <a:off x="457200" y="3200400"/>
            <a:ext cx="411480" cy="411480"/>
          </a:xfrm>
          <a:prstGeom prst="ellipse">
            <a:avLst/>
          </a:prstGeom>
          <a:solidFill>
            <a:srgbClr val="2E7D32"/>
          </a:solidFill>
        </p:spPr>
      </p:sp>
      <p:sp>
        <p:nvSpPr>
          <p:cNvPr id="25" name="Text 23"/>
          <p:cNvSpPr/>
          <p:nvPr/>
        </p:nvSpPr>
        <p:spPr>
          <a:xfrm>
            <a:off x="457200" y="3209544"/>
            <a:ext cx="41148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320040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稳定性缓冲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3794760"/>
            <a:ext cx="23774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连续3帧类别+新鲜度一致才标记稳定，Mutex保护保证原子性，有效过滤单帧抖动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0" y="3063240"/>
            <a:ext cx="2743200" cy="17373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3063240"/>
            <a:ext cx="45720" cy="173736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30" name="Shape 28"/>
          <p:cNvSpPr/>
          <p:nvPr/>
        </p:nvSpPr>
        <p:spPr>
          <a:xfrm>
            <a:off x="3383280" y="3200400"/>
            <a:ext cx="411480" cy="411480"/>
          </a:xfrm>
          <a:prstGeom prst="ellipse">
            <a:avLst/>
          </a:prstGeom>
          <a:solidFill>
            <a:srgbClr val="2E7D32"/>
          </a:solidFill>
        </p:spPr>
      </p:sp>
      <p:sp>
        <p:nvSpPr>
          <p:cNvPr id="31" name="Text 29"/>
          <p:cNvSpPr/>
          <p:nvPr/>
        </p:nvSpPr>
        <p:spPr>
          <a:xfrm>
            <a:off x="3383280" y="3209544"/>
            <a:ext cx="41148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31920" y="320040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DI全面重构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383280" y="3794760"/>
            <a:ext cx="23774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ModelConfig/ImagePreprocessor通过构造函数注入，消除3处自行实例化，DI合规性100%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26480" y="3063240"/>
            <a:ext cx="2743200" cy="17373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3063240"/>
            <a:ext cx="45720" cy="173736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36" name="Shape 34"/>
          <p:cNvSpPr/>
          <p:nvPr/>
        </p:nvSpPr>
        <p:spPr>
          <a:xfrm>
            <a:off x="6309360" y="3200400"/>
            <a:ext cx="411480" cy="411480"/>
          </a:xfrm>
          <a:prstGeom prst="ellipse">
            <a:avLst/>
          </a:prstGeom>
          <a:solidFill>
            <a:srgbClr val="2E7D32"/>
          </a:solidFill>
        </p:spPr>
      </p:sp>
      <p:sp>
        <p:nvSpPr>
          <p:cNvPr id="37" name="Text 35"/>
          <p:cNvSpPr/>
          <p:nvPr/>
        </p:nvSpPr>
        <p:spPr>
          <a:xfrm>
            <a:off x="6309360" y="3209544"/>
            <a:ext cx="41148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58000" y="320040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线程安全加固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309360" y="3794760"/>
            <a:ext cx="23774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TFLiteClassifier添加synchronized锁保护interpreter/useGpu操作，消除GPU降级竞态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项目成果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572000" cy="658368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789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Android APK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0759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可安装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103120" y="12344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minSdk 24, 离线运行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4572000" cy="658368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85623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AI模型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08483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98.64%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103120" y="20116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MobileNetV3-Small, FP32 3.6MB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4572000" cy="658368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63347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86207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51文件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103120" y="27889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~3.5K行Kotlin, 4层架构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4572000" cy="658368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41071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文档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63931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9份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03120" y="35661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PRD/架构/设计/训练/审查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4572000" cy="658368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4187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测试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41655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23用例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103120" y="43434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全部通过，覆盖核心逻辑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03520" y="1051560"/>
            <a:ext cx="3566160" cy="39319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0" y="109728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技术收获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69280" y="1508760"/>
            <a:ext cx="3017520" cy="3291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Android Jetpack Compose 实战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MVVM + Clean Architecture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CameraX 图像采集与YUV处理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TensorFlow Lite 端侧部署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MobileNetV3 迁移学习训练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Hilt 依赖注入架构设计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Kotlin Coroutines + Flow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Room + SQLite 本地持久化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GPU/CPU 推理降级策略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CI/CD + detekt 代码质量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 版本管理与分支策略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AI辅助编程 (Claude Code)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828800"/>
            <a:ext cx="5486400" cy="5486400"/>
          </a:xfrm>
          <a:prstGeom prst="ellipse">
            <a:avLst/>
          </a:prstGeom>
          <a:solidFill>
            <a:srgbClr val="2E7D32">
              <a:alpha val="1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3200400" y="2286000"/>
            <a:ext cx="6400800" cy="6400800"/>
          </a:xfrm>
          <a:prstGeom prst="ellipse">
            <a:avLst/>
          </a:prstGeom>
          <a:solidFill>
            <a:srgbClr val="00897B">
              <a:alpha val="12000"/>
            </a:srgbClr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54864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09728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1371600" y="210312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81C78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鲜识 FreshScan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657600" y="2834640"/>
            <a:ext cx="1828800" cy="27432"/>
          </a:xfrm>
          <a:prstGeom prst="rect">
            <a:avLst/>
          </a:prstGeom>
          <a:solidFill>
            <a:srgbClr val="4DB6AC"/>
          </a:solidFill>
        </p:spPr>
      </p:sp>
      <p:sp>
        <p:nvSpPr>
          <p:cNvPr id="9" name="Text 6"/>
          <p:cNvSpPr/>
          <p:nvPr/>
        </p:nvSpPr>
        <p:spPr>
          <a:xfrm>
            <a:off x="1371600" y="329184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福建师范大学 · 软件工程 · 陈润扬&amp;</a:t>
            </a:r>
            <a:r>
              <a:rPr lang="zh-CN" alt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黄哲轩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3130</Words>
  <Application>WPS 演示</Application>
  <PresentationFormat>On-screen Show (16:9)</PresentationFormat>
  <Paragraphs>513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宋体</vt:lpstr>
      <vt:lpstr>Wingdings</vt:lpstr>
      <vt:lpstr>Arial Black</vt:lpstr>
      <vt:lpstr>Arial Black</vt:lpstr>
      <vt:lpstr>Arial Black</vt:lpstr>
      <vt:lpstr>Arial</vt:lpstr>
      <vt:lpstr>Arial</vt:lpstr>
      <vt:lpstr>Calibri</vt:lpstr>
      <vt:lpstr>Calibri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鲜识 FreshScan — 期末作品展示</dc:title>
  <dc:creator>陈润扬</dc:creator>
  <dc:subject>PptxGenJS Presentation</dc:subject>
  <cp:lastModifiedBy>van</cp:lastModifiedBy>
  <cp:revision>3</cp:revision>
  <dcterms:created xsi:type="dcterms:W3CDTF">2026-06-16T16:28:00Z</dcterms:created>
  <dcterms:modified xsi:type="dcterms:W3CDTF">2026-06-16T16:37:05Z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7F9231DC09C14A1B8DA3847170AA3733_12</vt:lpwstr>
  </property>
</Properties>
</file>